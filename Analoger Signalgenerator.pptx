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1" r:id="rId6"/>
    <p:sldId id="28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19" autoAdjust="0"/>
  </p:normalViewPr>
  <p:slideViewPr>
    <p:cSldViewPr snapToGrid="0">
      <p:cViewPr>
        <p:scale>
          <a:sx n="66" d="100"/>
          <a:sy n="66" d="100"/>
        </p:scale>
        <p:origin x="1698" y="8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B7D13-A6DB-4B97-8CAB-A20F6416AC04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B934B-8C84-46B6-ADD7-C1D816DF11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40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77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07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35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6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5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83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06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34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43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095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53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849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8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18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554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96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11800-5547-4F1D-B0D2-B122B0669688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17304-6977-4C3D-A33F-721543ED38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011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34410-5E47-360E-5524-999F68005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Analoger Signalgenerator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69420F-09C6-4962-6DDE-7B5402A24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 Projekt des Wahlfachs PEP von </a:t>
            </a:r>
            <a:r>
              <a:rPr lang="de-DE" dirty="0" err="1"/>
              <a:t>marius</a:t>
            </a:r>
            <a:r>
              <a:rPr lang="de-DE" dirty="0"/>
              <a:t> Heckl und Pascal </a:t>
            </a:r>
            <a:r>
              <a:rPr lang="de-DE" dirty="0" err="1"/>
              <a:t>palatz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83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C2FF9-3D9A-DF30-C057-C1831F10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6D3091-7234-3000-653D-43723F4AD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46566"/>
            <a:ext cx="9905999" cy="4837114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Anforderungen</a:t>
            </a:r>
          </a:p>
          <a:p>
            <a:r>
              <a:rPr lang="de-DE" dirty="0"/>
              <a:t>Unsere Platine</a:t>
            </a:r>
          </a:p>
          <a:p>
            <a:r>
              <a:rPr lang="de-DE" dirty="0"/>
              <a:t>Herausforderungen und Lösungen</a:t>
            </a:r>
          </a:p>
          <a:p>
            <a:r>
              <a:rPr lang="de-DE" dirty="0"/>
              <a:t>Ausgangssignal Wien-Robinson-Generator</a:t>
            </a:r>
          </a:p>
          <a:p>
            <a:r>
              <a:rPr lang="de-DE" dirty="0"/>
              <a:t>Ausgangsignal Sinus</a:t>
            </a:r>
          </a:p>
          <a:p>
            <a:r>
              <a:rPr lang="de-DE" dirty="0"/>
              <a:t>Ausgangsignal Rechteck</a:t>
            </a:r>
          </a:p>
          <a:p>
            <a:r>
              <a:rPr lang="de-DE" dirty="0"/>
              <a:t>Ausgangsignal Dreieck</a:t>
            </a:r>
          </a:p>
          <a:p>
            <a:r>
              <a:rPr lang="de-DE" dirty="0"/>
              <a:t>Ausgangsignal PWM</a:t>
            </a:r>
          </a:p>
          <a:p>
            <a:r>
              <a:rPr lang="de-DE" dirty="0"/>
              <a:t>Ausgangsignal Sägezahn</a:t>
            </a:r>
          </a:p>
          <a:p>
            <a:r>
              <a:rPr lang="de-DE" dirty="0"/>
              <a:t>Weitere Videos (Amplitude und Offset)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78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0AD39-E7B4-7CD8-8964-36BC3409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7FC8C5-1F31-0406-3226-BFDCB287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4"/>
            <a:ext cx="9905999" cy="4026979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Entwicklung eines analogen Signalgenerators</a:t>
            </a:r>
          </a:p>
          <a:p>
            <a:r>
              <a:rPr lang="de-DE" dirty="0"/>
              <a:t>Folgende Signale sollen generiert werden:</a:t>
            </a:r>
          </a:p>
          <a:p>
            <a:pPr lvl="1"/>
            <a:r>
              <a:rPr lang="de-DE" dirty="0"/>
              <a:t>Sinus</a:t>
            </a:r>
          </a:p>
          <a:p>
            <a:pPr lvl="1"/>
            <a:r>
              <a:rPr lang="de-DE" dirty="0"/>
              <a:t>Rechteck</a:t>
            </a:r>
          </a:p>
          <a:p>
            <a:pPr lvl="1"/>
            <a:r>
              <a:rPr lang="de-DE" dirty="0"/>
              <a:t>Dreieck</a:t>
            </a:r>
          </a:p>
          <a:p>
            <a:pPr lvl="1"/>
            <a:r>
              <a:rPr lang="de-DE" dirty="0"/>
              <a:t>PWM</a:t>
            </a:r>
          </a:p>
          <a:p>
            <a:pPr lvl="1"/>
            <a:r>
              <a:rPr lang="de-DE" dirty="0"/>
              <a:t>Sägezahn</a:t>
            </a:r>
          </a:p>
          <a:p>
            <a:r>
              <a:rPr lang="de-DE" dirty="0"/>
              <a:t>Frequenzen der Signale sollen zwischen 1 kHz und 1 MHz einstellbar sein</a:t>
            </a:r>
          </a:p>
          <a:p>
            <a:r>
              <a:rPr lang="de-DE" dirty="0"/>
              <a:t>Die Amplitude und der Offset soll bei allen Signalen einstellbar sein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9FEEA9-4C21-9506-F02B-76035F05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 Signalgenerator - Anforderungen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CBA52E-85C6-9DF4-A5C7-8D6906BA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9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DF4A9-8F66-6F9B-6DFC-F6855B2A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77F85E9-B7FE-06A4-7F11-2EA558406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-314325"/>
            <a:ext cx="4567428" cy="7653867"/>
          </a:xfrm>
          <a:prstGeom prst="round2DiagRect">
            <a:avLst>
              <a:gd name="adj1" fmla="val 1726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3B4B42-C423-FD80-B635-C6DD3806F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050" y="257175"/>
            <a:ext cx="7067549" cy="6235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DE" sz="2800" dirty="0"/>
              <a:t>Kenndaten unserer Platine:</a:t>
            </a:r>
          </a:p>
          <a:p>
            <a:pPr lvl="1">
              <a:lnSpc>
                <a:spcPct val="110000"/>
              </a:lnSpc>
            </a:pPr>
            <a:r>
              <a:rPr lang="de-DE" sz="2200" dirty="0"/>
              <a:t>Spannungsversorgung:</a:t>
            </a:r>
          </a:p>
          <a:p>
            <a:pPr lvl="2">
              <a:lnSpc>
                <a:spcPct val="110000"/>
              </a:lnSpc>
            </a:pPr>
            <a:r>
              <a:rPr lang="de-DE" sz="1600" dirty="0"/>
              <a:t>Netzteilversorgung: ± 15 V</a:t>
            </a:r>
          </a:p>
          <a:p>
            <a:pPr lvl="2">
              <a:lnSpc>
                <a:spcPct val="110000"/>
              </a:lnSpc>
            </a:pPr>
            <a:r>
              <a:rPr lang="de-DE" sz="1600" dirty="0"/>
              <a:t>Interne Spannungsversorgung: ± 5 V</a:t>
            </a:r>
          </a:p>
          <a:p>
            <a:pPr lvl="1">
              <a:lnSpc>
                <a:spcPct val="110000"/>
              </a:lnSpc>
            </a:pPr>
            <a:r>
              <a:rPr lang="de-DE" sz="2200" dirty="0"/>
              <a:t>Signalgenerator:</a:t>
            </a:r>
          </a:p>
          <a:p>
            <a:pPr lvl="2">
              <a:lnSpc>
                <a:spcPct val="110000"/>
              </a:lnSpc>
            </a:pPr>
            <a:r>
              <a:rPr lang="de-DE" sz="1600" dirty="0"/>
              <a:t>Wien-Robinson-Generator: Erzeugt ein Sinus mit minimal 4,06 kHz</a:t>
            </a:r>
            <a:br>
              <a:rPr lang="de-DE" sz="1600" dirty="0"/>
            </a:br>
            <a:r>
              <a:rPr lang="de-DE" sz="1600" dirty="0"/>
              <a:t>und maximal 1,63 MHz</a:t>
            </a:r>
            <a:endParaRPr lang="de-DE" sz="1800" dirty="0"/>
          </a:p>
          <a:p>
            <a:pPr lvl="1">
              <a:lnSpc>
                <a:spcPct val="110000"/>
              </a:lnSpc>
            </a:pPr>
            <a:r>
              <a:rPr lang="de-DE" sz="2200" dirty="0"/>
              <a:t>Signalverarbeitungen</a:t>
            </a:r>
            <a:r>
              <a:rPr lang="de-DE" sz="2400" dirty="0"/>
              <a:t>:</a:t>
            </a:r>
          </a:p>
          <a:p>
            <a:pPr lvl="2">
              <a:lnSpc>
                <a:spcPct val="110000"/>
              </a:lnSpc>
            </a:pPr>
            <a:r>
              <a:rPr lang="de-DE" sz="1600" dirty="0"/>
              <a:t>Signalerzeugung: Erzeugt aus dem Sinus des Generators :</a:t>
            </a:r>
          </a:p>
          <a:p>
            <a:pPr lvl="3">
              <a:lnSpc>
                <a:spcPct val="110000"/>
              </a:lnSpc>
            </a:pPr>
            <a:r>
              <a:rPr lang="de-DE" sz="1400" dirty="0"/>
              <a:t>Verstärkter Sinus</a:t>
            </a:r>
          </a:p>
          <a:p>
            <a:pPr lvl="3">
              <a:lnSpc>
                <a:spcPct val="110000"/>
              </a:lnSpc>
            </a:pPr>
            <a:r>
              <a:rPr lang="de-DE" sz="1400" dirty="0"/>
              <a:t>Rechteck</a:t>
            </a:r>
          </a:p>
          <a:p>
            <a:pPr lvl="3">
              <a:lnSpc>
                <a:spcPct val="110000"/>
              </a:lnSpc>
            </a:pPr>
            <a:r>
              <a:rPr lang="de-DE" sz="1400" dirty="0"/>
              <a:t>Dreieck</a:t>
            </a:r>
          </a:p>
          <a:p>
            <a:pPr lvl="3">
              <a:lnSpc>
                <a:spcPct val="110000"/>
              </a:lnSpc>
            </a:pPr>
            <a:r>
              <a:rPr lang="de-DE" sz="1400" dirty="0"/>
              <a:t>PWM</a:t>
            </a:r>
          </a:p>
          <a:p>
            <a:pPr lvl="3">
              <a:lnSpc>
                <a:spcPct val="110000"/>
              </a:lnSpc>
            </a:pPr>
            <a:r>
              <a:rPr lang="de-DE" sz="1400" dirty="0"/>
              <a:t>Sägezahn</a:t>
            </a:r>
            <a:endParaRPr lang="de-DE" sz="2400" dirty="0"/>
          </a:p>
          <a:p>
            <a:pPr lvl="1">
              <a:lnSpc>
                <a:spcPct val="110000"/>
              </a:lnSpc>
            </a:pPr>
            <a:r>
              <a:rPr lang="de-DE" sz="2200" dirty="0"/>
              <a:t>Amplitude und Offset:</a:t>
            </a:r>
          </a:p>
          <a:p>
            <a:pPr lvl="2">
              <a:lnSpc>
                <a:spcPct val="110000"/>
              </a:lnSpc>
            </a:pPr>
            <a:r>
              <a:rPr lang="de-DE" sz="1600" dirty="0"/>
              <a:t>Signalmanipulation: Auswahl des Signals durch Dip-Schalter; Veränderung durch jeweiliges Potentiometer</a:t>
            </a:r>
          </a:p>
          <a:p>
            <a:pPr marL="1371600" lvl="3" indent="0">
              <a:lnSpc>
                <a:spcPct val="110000"/>
              </a:lnSpc>
              <a:buNone/>
            </a:pPr>
            <a:endParaRPr lang="de-DE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93E85B-4B4E-77D9-9662-35CD1187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1" y="6309360"/>
            <a:ext cx="623930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Projekt Signalgenerator -  Unsere Platine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3269FC-FFC0-2CC7-CF90-F232F757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09360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C817304-6977-4C3D-A33F-721543ED38EC}" type="slidenum">
              <a:rPr lang="de-DE" smtClean="0"/>
              <a:pPr>
                <a:spcAft>
                  <a:spcPts val="600"/>
                </a:spcAft>
              </a:pPr>
              <a:t>4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A3881-E166-6CA8-FB14-D77A64B6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61" y="257175"/>
            <a:ext cx="3510539" cy="1478570"/>
          </a:xfrm>
        </p:spPr>
        <p:txBody>
          <a:bodyPr>
            <a:normAutofit/>
          </a:bodyPr>
          <a:lstStyle/>
          <a:p>
            <a:r>
              <a:rPr lang="de-DE" dirty="0"/>
              <a:t> Unsere Platine</a:t>
            </a:r>
          </a:p>
        </p:txBody>
      </p:sp>
    </p:spTree>
    <p:extLst>
      <p:ext uri="{BB962C8B-B14F-4D97-AF65-F5344CB8AC3E}">
        <p14:creationId xmlns:p14="http://schemas.microsoft.com/office/powerpoint/2010/main" val="410590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E3751C-5C77-80DB-E9EE-A426D37F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4532"/>
          </a:xfrm>
        </p:spPr>
        <p:txBody>
          <a:bodyPr/>
          <a:lstStyle/>
          <a:p>
            <a:r>
              <a:rPr lang="de-DE" dirty="0"/>
              <a:t>Schaltplan der Platine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16394CA-13D6-6CB6-1D78-7E0C6C21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306104"/>
            <a:ext cx="5727197" cy="273778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5D75B81-55A3-A290-9436-583E81F98BE1}"/>
              </a:ext>
            </a:extLst>
          </p:cNvPr>
          <p:cNvSpPr txBox="1"/>
          <p:nvPr/>
        </p:nvSpPr>
        <p:spPr>
          <a:xfrm>
            <a:off x="1141413" y="4200525"/>
            <a:ext cx="2544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Spannungsversorgung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AA383E8-2DA2-D299-52BE-B5B9E00D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915" y="2955242"/>
            <a:ext cx="4591606" cy="356636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6D7A973-695B-64DE-10EF-3013E418F5BC}"/>
              </a:ext>
            </a:extLst>
          </p:cNvPr>
          <p:cNvSpPr txBox="1"/>
          <p:nvPr/>
        </p:nvSpPr>
        <p:spPr>
          <a:xfrm>
            <a:off x="7206710" y="2490329"/>
            <a:ext cx="2995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Der Wien-Robinson-Generator</a:t>
            </a:r>
          </a:p>
        </p:txBody>
      </p:sp>
    </p:spTree>
    <p:extLst>
      <p:ext uri="{BB962C8B-B14F-4D97-AF65-F5344CB8AC3E}">
        <p14:creationId xmlns:p14="http://schemas.microsoft.com/office/powerpoint/2010/main" val="70393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3DBAC6E-0393-7146-DE5B-62A88F865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39" y="160577"/>
            <a:ext cx="7510301" cy="36711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CA5560C-5E0A-FB50-A6BE-6FA3D6274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5" y="4271598"/>
            <a:ext cx="4178515" cy="242582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DEE81CD-D79D-1F1B-22E8-3BF18D70E119}"/>
              </a:ext>
            </a:extLst>
          </p:cNvPr>
          <p:cNvSpPr txBox="1"/>
          <p:nvPr/>
        </p:nvSpPr>
        <p:spPr>
          <a:xfrm>
            <a:off x="1149877" y="3864037"/>
            <a:ext cx="2301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Die Signalverarbeitung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7DF25C9-3E2E-A118-0846-267655133CE2}"/>
              </a:ext>
            </a:extLst>
          </p:cNvPr>
          <p:cNvSpPr txBox="1"/>
          <p:nvPr/>
        </p:nvSpPr>
        <p:spPr>
          <a:xfrm>
            <a:off x="8740340" y="3799505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Amplituden und Offset Einstellung</a:t>
            </a:r>
          </a:p>
        </p:txBody>
      </p:sp>
    </p:spTree>
    <p:extLst>
      <p:ext uri="{BB962C8B-B14F-4D97-AF65-F5344CB8AC3E}">
        <p14:creationId xmlns:p14="http://schemas.microsoft.com/office/powerpoint/2010/main" val="76122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A172-B8A5-2BE7-E987-51DA58A5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99ED86-630C-7DF0-B11E-1BC2726D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Herausforderungen und Lösungen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AB6BDB-576B-E5E7-CCDD-55A944813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Projekt Signalgenerator - Herausforderungen und Lösungen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7AEB34-42CC-4E2E-601D-D4299909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7</a:t>
            </a:fld>
            <a:endParaRPr lang="de-DE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56F0AA9D-2973-B2C1-32DE-1CD1CCE9D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38" y="1562007"/>
            <a:ext cx="2464196" cy="264813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D12CD61-D70C-E47E-6E32-61EFCF9B7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1" y="4180204"/>
            <a:ext cx="2838450" cy="170307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655A305-8FBA-419C-A9E3-8DB0E4E178CB}"/>
              </a:ext>
            </a:extLst>
          </p:cNvPr>
          <p:cNvSpPr txBox="1"/>
          <p:nvPr/>
        </p:nvSpPr>
        <p:spPr>
          <a:xfrm>
            <a:off x="4773168" y="1898591"/>
            <a:ext cx="57424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Fehlerhaftes Ausgangssignal nach der Sinus-Verstärkung des Wien-Robinson-Generators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Fehlersuche: Führt zu fehlerhaftem Potentiometer, der Verstärkungsfaktor festlegt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Fehlerfindung: Durch Vermessen des GND, um Rauschquelle zu lokalisieren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Fehlerbehebung: Austausch des Potentiometers durch einen weiteren 1 k Widerstand, um festen Verstärkungsfaktor von 2 einzustellen</a:t>
            </a:r>
            <a:br>
              <a:rPr lang="de-DE" sz="2000" dirty="0"/>
            </a:br>
            <a:r>
              <a:rPr lang="de-DE" sz="2000" dirty="0"/>
              <a:t>Neues Ausgangsignal dargestellt in Kapitel Ausgangsignal Sinus</a:t>
            </a:r>
          </a:p>
        </p:txBody>
      </p:sp>
    </p:spTree>
    <p:extLst>
      <p:ext uri="{BB962C8B-B14F-4D97-AF65-F5344CB8AC3E}">
        <p14:creationId xmlns:p14="http://schemas.microsoft.com/office/powerpoint/2010/main" val="56121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2C0D-C356-7B19-694E-96ACA85D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C20EF-2420-0181-17A2-78699C1A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Ausgangssignal Wien-Robinson-Generator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5E6EE-9BA9-285A-23D9-AFDC44200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740602"/>
          </a:xfrm>
        </p:spPr>
        <p:txBody>
          <a:bodyPr>
            <a:normAutofit/>
          </a:bodyPr>
          <a:lstStyle/>
          <a:p>
            <a:r>
              <a:rPr lang="de-DE" dirty="0"/>
              <a:t>Sinussignal am Ausgang des Generators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07600F-884E-6D16-3A51-3423D116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Projekt Signalgenerator - Ausgangssignal Wien-Robinson-Generator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0B1F6F-4F62-7E12-FBFC-3455FA0D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8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787E6A7-23D4-500B-34E8-6E57C9464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75" y="2459164"/>
            <a:ext cx="5457825" cy="32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9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DD71-CA49-6B6B-C661-2F990A5D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45B38-FAD3-03FF-24E9-DBC43585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Ausgangsignal Sinus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5C135-241B-E349-B903-F83769ACB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2039430"/>
          </a:xfrm>
        </p:spPr>
        <p:txBody>
          <a:bodyPr>
            <a:normAutofit/>
          </a:bodyPr>
          <a:lstStyle/>
          <a:p>
            <a:r>
              <a:rPr lang="de-DE" dirty="0"/>
              <a:t>Sinussignal nach Verstärkung des Generators durch die Frequenzen:       4,132 kHz; 10 kHz; 100 kHz; 500 kHz; 1 MHz				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103645-A678-42DF-511C-32C93D3E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Sinus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FCDC45-BF25-2BC8-8902-7355EE34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9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2A53B7-3D03-ACF7-6638-0080E8D0A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1" y="2813050"/>
            <a:ext cx="4630208" cy="27781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2D41AE2-6C9E-D60F-4E01-0A1B4AFBB221}"/>
              </a:ext>
            </a:extLst>
          </p:cNvPr>
          <p:cNvSpPr txBox="1"/>
          <p:nvPr/>
        </p:nvSpPr>
        <p:spPr>
          <a:xfrm>
            <a:off x="1056215" y="559117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Sinus mit 4,132 kHz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CF59C2-C189-EAA6-1944-485A0FF7E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7" y="2813050"/>
            <a:ext cx="4630208" cy="277812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B9884E8-4318-3535-653D-D52D6A48BF79}"/>
              </a:ext>
            </a:extLst>
          </p:cNvPr>
          <p:cNvSpPr txBox="1"/>
          <p:nvPr/>
        </p:nvSpPr>
        <p:spPr>
          <a:xfrm>
            <a:off x="6334126" y="559117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Sinus mit 10,31 kHz</a:t>
            </a:r>
          </a:p>
        </p:txBody>
      </p:sp>
    </p:spTree>
    <p:extLst>
      <p:ext uri="{BB962C8B-B14F-4D97-AF65-F5344CB8AC3E}">
        <p14:creationId xmlns:p14="http://schemas.microsoft.com/office/powerpoint/2010/main" val="1202336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CB34-FAF0-843B-BF9D-FFC07F56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6CBE6C-3DD7-C48E-6C4F-A43A7C41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Sinus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CDB9C1-7495-153C-16B4-ACCAF76E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10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593AB86-6F4F-CDF5-3513-2AE197EF9A12}"/>
              </a:ext>
            </a:extLst>
          </p:cNvPr>
          <p:cNvSpPr txBox="1"/>
          <p:nvPr/>
        </p:nvSpPr>
        <p:spPr>
          <a:xfrm>
            <a:off x="946487" y="4932273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Sinus mit 101,0 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648BBE8-4D65-6EDF-9981-5F213462C4E8}"/>
              </a:ext>
            </a:extLst>
          </p:cNvPr>
          <p:cNvSpPr txBox="1"/>
          <p:nvPr/>
        </p:nvSpPr>
        <p:spPr>
          <a:xfrm>
            <a:off x="6283831" y="4932273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Sinus mit 505,0 kHz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6FADEDE-26B9-303F-5F3B-14C55131F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56" y="1729866"/>
            <a:ext cx="5337344" cy="32024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9677166-D0E2-DA82-8F4F-57EC02416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832" y="1729866"/>
            <a:ext cx="5337344" cy="320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7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3DB4-3535-B6AE-34E4-7C861C13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F6796C-2F46-5FF9-370B-D95E89CE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Sinus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7049A1-99D5-8489-777D-34B79659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11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BB0D8CC-085D-E1DA-70FC-5458CBBD6F53}"/>
              </a:ext>
            </a:extLst>
          </p:cNvPr>
          <p:cNvSpPr txBox="1"/>
          <p:nvPr/>
        </p:nvSpPr>
        <p:spPr>
          <a:xfrm>
            <a:off x="4253863" y="5010350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Sinus mit 1,228 </a:t>
            </a:r>
            <a:r>
              <a:rPr lang="de-DE" dirty="0" err="1"/>
              <a:t>Mhz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2461900-2144-E878-08AD-C5CE3FDA1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43835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5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C9C8-773D-B05A-469E-50E7F23E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8586C-7664-308F-BE6C-5C48410F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Ausgangsignal Rechteck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4C6B58-1552-6017-FD55-333C6453B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2039430"/>
          </a:xfrm>
        </p:spPr>
        <p:txBody>
          <a:bodyPr>
            <a:normAutofit/>
          </a:bodyPr>
          <a:lstStyle/>
          <a:p>
            <a:r>
              <a:rPr lang="de-DE" dirty="0"/>
              <a:t>Rechtecksignal durch die Frequenzen:  4,132 kHz; 10 kHz; 100 kHz; 500 kHz; 1 MHz				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932F19-AA90-DCCB-8BB4-DED07C49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Rechteck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9D7909-92A0-D12B-3727-61D783C7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12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717B9C5-C00C-E335-C047-F024D0DE6D66}"/>
              </a:ext>
            </a:extLst>
          </p:cNvPr>
          <p:cNvSpPr txBox="1"/>
          <p:nvPr/>
        </p:nvSpPr>
        <p:spPr>
          <a:xfrm>
            <a:off x="1056214" y="5591175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Rechteck mit 4,132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ABBA59B-6181-12E3-B8D4-361C4DF553A8}"/>
              </a:ext>
            </a:extLst>
          </p:cNvPr>
          <p:cNvSpPr txBox="1"/>
          <p:nvPr/>
        </p:nvSpPr>
        <p:spPr>
          <a:xfrm>
            <a:off x="6334126" y="5591175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Rechteck mit 10,24 kHz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14D41D6-6431-4723-2768-9CEA4E9DC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54" y="2738501"/>
            <a:ext cx="4831080" cy="289864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621C1BF-9B2C-AEDE-C54C-EF3926572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689" y="2738501"/>
            <a:ext cx="4831080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3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01A18-D6FD-CE4D-3EE7-A8AF16A3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EE73A4-EB51-4581-BC74-27AEDC86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Rechteck -     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F004C6-B2A1-5C65-3F11-18704FC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13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E08B57F-16C4-2DED-579D-008A7C27176B}"/>
              </a:ext>
            </a:extLst>
          </p:cNvPr>
          <p:cNvSpPr txBox="1"/>
          <p:nvPr/>
        </p:nvSpPr>
        <p:spPr>
          <a:xfrm>
            <a:off x="1161362" y="4878324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Rechteck mit 101,0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8BB2FD3-C212-46A6-917A-7C8F63A6EC30}"/>
              </a:ext>
            </a:extLst>
          </p:cNvPr>
          <p:cNvSpPr txBox="1"/>
          <p:nvPr/>
        </p:nvSpPr>
        <p:spPr>
          <a:xfrm>
            <a:off x="6599302" y="4878324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Rechteck mit 505,0 kHz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7B043A9-E662-82A6-3F0A-82BF086E8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302" y="1891894"/>
            <a:ext cx="4977384" cy="298643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ADE40C0-359C-973D-CB54-EA4562E7F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42" y="1935785"/>
            <a:ext cx="4904234" cy="294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0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123B-6E6C-56DE-E300-495CE5F7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FF9FBF-FA9F-0124-38FD-DFD6D055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Rechteck -     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322A23-0680-0E0E-745C-EBCEA1C4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14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AE9005F-21B7-665F-FABC-F9B31F73C685}"/>
              </a:ext>
            </a:extLst>
          </p:cNvPr>
          <p:cNvSpPr txBox="1"/>
          <p:nvPr/>
        </p:nvSpPr>
        <p:spPr>
          <a:xfrm>
            <a:off x="4659250" y="5032690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Rechteck mit 1,241 kHz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8423FAF-860D-2D78-FA62-DDD1F9A14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77" y="46069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50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B210-9360-592B-36D0-EA24D780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451F1-BD18-4487-E9BD-50538325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Ausgangsignal Dreieck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936C3-18F2-A3FE-ADCC-8CDE4B7A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2039430"/>
          </a:xfrm>
        </p:spPr>
        <p:txBody>
          <a:bodyPr>
            <a:normAutofit/>
          </a:bodyPr>
          <a:lstStyle/>
          <a:p>
            <a:r>
              <a:rPr lang="de-DE" dirty="0"/>
              <a:t>Dreiecksignal durch die Frequenzen:  4,132 kHz; 10 kHz; 100 kHz; 500 kHz; 1 MHz				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B355B0-7F80-B51D-B625-712B0C8A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Dreieck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92B172-6027-17FC-D996-74BD3A2E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15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92F99A9-14F5-AD05-38D0-4873E97A9794}"/>
              </a:ext>
            </a:extLst>
          </p:cNvPr>
          <p:cNvSpPr txBox="1"/>
          <p:nvPr/>
        </p:nvSpPr>
        <p:spPr>
          <a:xfrm>
            <a:off x="1056214" y="5591175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Dreieck mit 4,132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D0F7CDF-258A-4CE4-84FA-DE2696910CE8}"/>
              </a:ext>
            </a:extLst>
          </p:cNvPr>
          <p:cNvSpPr txBox="1"/>
          <p:nvPr/>
        </p:nvSpPr>
        <p:spPr>
          <a:xfrm>
            <a:off x="6334126" y="5591175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Dreieck mit 10,24 kHz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B14191-7C7B-3BEC-2BB3-B01FFEE54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71" y="2738501"/>
            <a:ext cx="4831081" cy="289864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40BE0BD-4FBB-7FD7-39ED-2F0734256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30" y="2738502"/>
            <a:ext cx="4831081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2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1A0B-300E-91BE-DCE0-EB313DCC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C3B988-6C5D-1A4D-141A-8824BD6D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Dreieck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D18339-B66E-1CDC-E6CD-4A8370D3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16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8EA2B3A-4658-E834-474A-056A80A2952E}"/>
              </a:ext>
            </a:extLst>
          </p:cNvPr>
          <p:cNvSpPr txBox="1"/>
          <p:nvPr/>
        </p:nvSpPr>
        <p:spPr>
          <a:xfrm>
            <a:off x="1008589" y="5001186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Dreieck mit 102,0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FABDA8C-F5E9-96FC-01A8-0F16E62D4DB4}"/>
              </a:ext>
            </a:extLst>
          </p:cNvPr>
          <p:cNvSpPr txBox="1"/>
          <p:nvPr/>
        </p:nvSpPr>
        <p:spPr>
          <a:xfrm>
            <a:off x="6362701" y="5001186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Dreieck mit 500 kHz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FBF0A94-3D54-7433-B207-22D9473E5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53" y="1979675"/>
            <a:ext cx="4831080" cy="289864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4695249-C064-E71F-17E0-4092ECFFB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30" y="1979675"/>
            <a:ext cx="4831080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0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31A4-F9F9-DBE5-7B2F-F6322F15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17DC6F-7883-AF42-78E1-4FE96B5C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Dreieck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118F65-23E6-F27F-096A-111A0877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17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B456C1A-CE5C-7AE3-1C28-0DBDF039209C}"/>
              </a:ext>
            </a:extLst>
          </p:cNvPr>
          <p:cNvSpPr txBox="1"/>
          <p:nvPr/>
        </p:nvSpPr>
        <p:spPr>
          <a:xfrm>
            <a:off x="4619626" y="4776999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Dreieck mit 1,005 MHz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0BADE8C-C1C2-72E3-F640-1971E157E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562" y="711146"/>
            <a:ext cx="6740527" cy="40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4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F9F1F-A4E9-C3D3-19F0-3E2A3EED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13BF5-8F82-F532-CC58-E8350238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Ausgangsignal PWM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341299-3920-8D1A-F083-291AE4C1B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2039430"/>
          </a:xfrm>
        </p:spPr>
        <p:txBody>
          <a:bodyPr>
            <a:normAutofit/>
          </a:bodyPr>
          <a:lstStyle/>
          <a:p>
            <a:r>
              <a:rPr lang="de-DE" dirty="0"/>
              <a:t>PWM-Signal durch die Frequenzen:  4,132 kHz; 10 kHz; 100 kHz; 500 kHz; 1 MHz				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3655A5-F9CF-C354-DA39-0094E16B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003401-FAC8-F6F8-7A92-94455282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18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8CB02F0-C72B-97F2-64B3-B0080DA9C844}"/>
              </a:ext>
            </a:extLst>
          </p:cNvPr>
          <p:cNvSpPr txBox="1"/>
          <p:nvPr/>
        </p:nvSpPr>
        <p:spPr>
          <a:xfrm>
            <a:off x="1056214" y="5591175"/>
            <a:ext cx="2647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4,132 kHz und Duty Cycle von 15 %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D59BF1-BCA8-1407-9B39-BC96F9991AE2}"/>
              </a:ext>
            </a:extLst>
          </p:cNvPr>
          <p:cNvSpPr txBox="1"/>
          <p:nvPr/>
        </p:nvSpPr>
        <p:spPr>
          <a:xfrm>
            <a:off x="6334126" y="5591175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70% Fehlt kHz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4622E4-9AE0-5AD4-E610-29672C633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61" y="2738502"/>
            <a:ext cx="4638675" cy="27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0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C31A-A663-5752-BBF1-6A409732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E96395-B412-4DC0-6309-5C7E6614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0D9D7B-93AF-5F98-E6AA-484545C3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19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C9522D7-3AE7-B886-D185-9C756A95EADF}"/>
              </a:ext>
            </a:extLst>
          </p:cNvPr>
          <p:cNvSpPr txBox="1"/>
          <p:nvPr/>
        </p:nvSpPr>
        <p:spPr>
          <a:xfrm>
            <a:off x="1008589" y="5001186"/>
            <a:ext cx="2647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10,24 kHz und Duty Cycle von 15 %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7F3E971-73DF-EE6D-C6E4-B05A8C85AEF5}"/>
              </a:ext>
            </a:extLst>
          </p:cNvPr>
          <p:cNvSpPr txBox="1"/>
          <p:nvPr/>
        </p:nvSpPr>
        <p:spPr>
          <a:xfrm>
            <a:off x="6216330" y="4955019"/>
            <a:ext cx="3221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10,24 kHz und Duty Cycle von 70 %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0586595-C871-E575-C655-C1DF15BF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89" y="1979675"/>
            <a:ext cx="4831080" cy="28986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A97D4B-0D98-3982-88F0-E65327BD7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39" y="1979675"/>
            <a:ext cx="4831080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93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E181-3999-7985-6371-ED71B984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9CB5C5-A7C5-5D9D-8198-3AF372E8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28FE6-6035-7479-6056-CC388DAC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20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F0ADFE8-63EA-4069-75E1-8F4E3E5050BC}"/>
              </a:ext>
            </a:extLst>
          </p:cNvPr>
          <p:cNvSpPr txBox="1"/>
          <p:nvPr/>
        </p:nvSpPr>
        <p:spPr>
          <a:xfrm>
            <a:off x="1008589" y="5001186"/>
            <a:ext cx="2647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100,0 kHz und Duty Cycle von 15 %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3E78EC3-E54F-08FA-7E97-BC31DCDDCD7E}"/>
              </a:ext>
            </a:extLst>
          </p:cNvPr>
          <p:cNvSpPr txBox="1"/>
          <p:nvPr/>
        </p:nvSpPr>
        <p:spPr>
          <a:xfrm>
            <a:off x="6216330" y="4955019"/>
            <a:ext cx="3221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100,0 kHz und Duty Cycle von 70 %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DBD8EC-F971-BDA6-4677-91023C5A6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45" y="1979675"/>
            <a:ext cx="4831080" cy="289864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819BE61-120E-07C3-1166-F2E3CDEB4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952" y="1979675"/>
            <a:ext cx="4831081" cy="28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5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4F39-5535-0ECA-3704-2136D15B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157EAD-EE47-301B-ACE5-2D85F1CC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028FCE-78D2-F223-C2D2-40E565F4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21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6DB8B16-3932-5EF1-1F43-3EE3D43B37E8}"/>
              </a:ext>
            </a:extLst>
          </p:cNvPr>
          <p:cNvSpPr txBox="1"/>
          <p:nvPr/>
        </p:nvSpPr>
        <p:spPr>
          <a:xfrm>
            <a:off x="1008589" y="5001186"/>
            <a:ext cx="2647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502,5 kHz und Duty Cycle von 15 %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1BF88F-1009-D6CB-20E0-9E14A80DE710}"/>
              </a:ext>
            </a:extLst>
          </p:cNvPr>
          <p:cNvSpPr txBox="1"/>
          <p:nvPr/>
        </p:nvSpPr>
        <p:spPr>
          <a:xfrm>
            <a:off x="6216330" y="4955019"/>
            <a:ext cx="3221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505 kHz und Duty Cycle von 70 %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1E870A0-7852-F4B2-278F-CCA7D97EB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45" y="2044159"/>
            <a:ext cx="4831081" cy="289864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70C9CF-B3F3-BC6A-BE19-50468C75F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176" y="2044158"/>
            <a:ext cx="4831081" cy="28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83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F0A7-5AB0-4A5D-E68A-F658552E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CDB544-4A49-4D55-FF01-39C3C49F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825183-51E1-0517-98C5-9260D2A8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22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4F8528A-3AB4-0433-B82B-B45759FA0BBB}"/>
              </a:ext>
            </a:extLst>
          </p:cNvPr>
          <p:cNvSpPr txBox="1"/>
          <p:nvPr/>
        </p:nvSpPr>
        <p:spPr>
          <a:xfrm>
            <a:off x="3949379" y="5172075"/>
            <a:ext cx="3413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1 MHz und Duty Cycle von 45 % bei grober Betrachtung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3CFB28-32BD-9F17-B3C2-8ABFDCE41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057" y="600075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09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D2C0-5330-001C-8980-912138CC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7F545C-C7B4-B1C0-525B-1A2511CC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PWM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F46491-6640-A029-C41D-7B1A67FA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23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775E99A-F551-CB19-6849-C81A7591CB84}"/>
              </a:ext>
            </a:extLst>
          </p:cNvPr>
          <p:cNvSpPr txBox="1"/>
          <p:nvPr/>
        </p:nvSpPr>
        <p:spPr>
          <a:xfrm>
            <a:off x="1037164" y="4955019"/>
            <a:ext cx="4125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998,0 kHz und Duty Cycle von 45 % bei näherer Betrachtung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94728B-10A9-633E-0AFD-69D9D7ACC0C2}"/>
              </a:ext>
            </a:extLst>
          </p:cNvPr>
          <p:cNvSpPr txBox="1"/>
          <p:nvPr/>
        </p:nvSpPr>
        <p:spPr>
          <a:xfrm>
            <a:off x="6216330" y="4955019"/>
            <a:ext cx="3221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PWM mit 998,0 kHz und Duty Cycle von 75 %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8E1E682-61AB-9F66-624C-43FD4FF1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68" y="2044157"/>
            <a:ext cx="4831082" cy="289864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1648DE8-636D-CD36-20B7-AA1B1C78F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27" y="2056369"/>
            <a:ext cx="4831083" cy="28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2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C3FF-F692-A13A-F6BB-E6730BEE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7847F9-1492-3202-335F-1E09F3E2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Ausgangsignal Sägezahn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0DEA92-402F-4038-1042-7E07B256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6295"/>
            <a:ext cx="9905999" cy="2039430"/>
          </a:xfrm>
        </p:spPr>
        <p:txBody>
          <a:bodyPr>
            <a:normAutofit/>
          </a:bodyPr>
          <a:lstStyle/>
          <a:p>
            <a:r>
              <a:rPr lang="de-DE" dirty="0"/>
              <a:t>Sägezahn durch die Frequenzen:  4,132 kHz; 10 kHz; 100 kHz; 500 kHz; 1 MHz				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A11640-CD12-70DC-7123-9E3F41BD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Sägezahn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7ABEFF-7FF9-22FD-DB5C-240C3D4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24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A2BDD02-9DC3-12F4-8EF1-C85C4D15EF94}"/>
              </a:ext>
            </a:extLst>
          </p:cNvPr>
          <p:cNvSpPr txBox="1"/>
          <p:nvPr/>
        </p:nvSpPr>
        <p:spPr>
          <a:xfrm>
            <a:off x="1161362" y="5585713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Sägezahn mit 4,132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8032E8-3601-B5E1-C1F6-2A9C2EE2ADC9}"/>
              </a:ext>
            </a:extLst>
          </p:cNvPr>
          <p:cNvSpPr txBox="1"/>
          <p:nvPr/>
        </p:nvSpPr>
        <p:spPr>
          <a:xfrm>
            <a:off x="6334126" y="5591175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Sägezahn mit 10,24 kHz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9FD5008-C519-B2DD-0E86-83F83D5FF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10" y="2876010"/>
            <a:ext cx="4638675" cy="278320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079B6A9-D26C-9546-62CC-186EC6F77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837" y="2876010"/>
            <a:ext cx="4638675" cy="27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47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8ED8-1155-A15D-26C7-5E08DCAC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DCFEF6-D6E7-670D-76AB-A6D142F6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Sägezahn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4F638C-D1B4-29DE-2E5F-E68DC673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25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148E8EE-76E9-B7A8-34EC-F932F0408F95}"/>
              </a:ext>
            </a:extLst>
          </p:cNvPr>
          <p:cNvSpPr txBox="1"/>
          <p:nvPr/>
        </p:nvSpPr>
        <p:spPr>
          <a:xfrm>
            <a:off x="1161362" y="4554027"/>
            <a:ext cx="264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Sägezahn mit 101,0 kHz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D8070E2-8C80-741B-7A49-9EDE90EB769F}"/>
              </a:ext>
            </a:extLst>
          </p:cNvPr>
          <p:cNvSpPr txBox="1"/>
          <p:nvPr/>
        </p:nvSpPr>
        <p:spPr>
          <a:xfrm>
            <a:off x="6270626" y="4554027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Sägezahn mit 505,0 kHz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6061E01-9727-46B9-AAC1-28D820184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4" y="1770821"/>
            <a:ext cx="4638676" cy="278320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C2B9270-1C69-3783-2F86-4C1D3B8FA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0820"/>
            <a:ext cx="4638679" cy="278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46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020-E4B0-CC0F-9DE4-586A7209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B8B8AE-3582-D2B2-2D71-DC45BAA7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1362" y="6232044"/>
            <a:ext cx="4716464" cy="365125"/>
          </a:xfrm>
        </p:spPr>
        <p:txBody>
          <a:bodyPr/>
          <a:lstStyle/>
          <a:p>
            <a:r>
              <a:rPr lang="de-DE" dirty="0"/>
              <a:t>Projekt Signalgenerator - Ausgangssignal - Sägezahn -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418449-BF42-1B68-1B73-A2AE8BC6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7304-6977-4C3D-A33F-721543ED38EC}" type="slidenum">
              <a:rPr lang="de-DE" smtClean="0"/>
              <a:t>26</a:t>
            </a:fld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E3846E9-E5EA-9A1D-109A-F58E10F47EEB}"/>
              </a:ext>
            </a:extLst>
          </p:cNvPr>
          <p:cNvSpPr txBox="1"/>
          <p:nvPr/>
        </p:nvSpPr>
        <p:spPr>
          <a:xfrm>
            <a:off x="4114853" y="5322408"/>
            <a:ext cx="322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Sägezahn mit 1,01 MHz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775418-77AA-BD60-ABEB-F467A87AD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530" y="579436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26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51830-0212-F6E8-B13E-D5DAD5FC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r>
              <a:rPr lang="de-DE" dirty="0"/>
              <a:t>Weitere Videos (Amplitude und Offset)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5790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725</Words>
  <Application>Microsoft Office PowerPoint</Application>
  <PresentationFormat>Breitbild</PresentationFormat>
  <Paragraphs>137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Aptos</vt:lpstr>
      <vt:lpstr>Arial</vt:lpstr>
      <vt:lpstr>Tw Cen MT</vt:lpstr>
      <vt:lpstr>Schaltkreis</vt:lpstr>
      <vt:lpstr>Analoger Signalgenerator</vt:lpstr>
      <vt:lpstr>Gliederung</vt:lpstr>
      <vt:lpstr>Anforderungen</vt:lpstr>
      <vt:lpstr> Unsere Platine</vt:lpstr>
      <vt:lpstr>Schaltplan der Platine</vt:lpstr>
      <vt:lpstr>PowerPoint-Präsentation</vt:lpstr>
      <vt:lpstr>Herausforderungen und Lösungen</vt:lpstr>
      <vt:lpstr>Ausgangssignal Wien-Robinson-Generator</vt:lpstr>
      <vt:lpstr>Ausgangsignal Sinus</vt:lpstr>
      <vt:lpstr>PowerPoint-Präsentation</vt:lpstr>
      <vt:lpstr>PowerPoint-Präsentation</vt:lpstr>
      <vt:lpstr>Ausgangsignal Rechteck</vt:lpstr>
      <vt:lpstr>PowerPoint-Präsentation</vt:lpstr>
      <vt:lpstr>PowerPoint-Präsentation</vt:lpstr>
      <vt:lpstr>Ausgangsignal Dreieck</vt:lpstr>
      <vt:lpstr>PowerPoint-Präsentation</vt:lpstr>
      <vt:lpstr>PowerPoint-Präsentation</vt:lpstr>
      <vt:lpstr>Ausgangsignal PWM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Ausgangsignal Sägezahn</vt:lpstr>
      <vt:lpstr>PowerPoint-Präsentation</vt:lpstr>
      <vt:lpstr>PowerPoint-Präsentation</vt:lpstr>
      <vt:lpstr>Weitere Videos (Amplitude und Offset)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Palatz</dc:creator>
  <cp:lastModifiedBy>Pascal Palatz</cp:lastModifiedBy>
  <cp:revision>4</cp:revision>
  <dcterms:created xsi:type="dcterms:W3CDTF">2026-06-25T05:04:22Z</dcterms:created>
  <dcterms:modified xsi:type="dcterms:W3CDTF">2026-06-25T11:39:02Z</dcterms:modified>
</cp:coreProperties>
</file>